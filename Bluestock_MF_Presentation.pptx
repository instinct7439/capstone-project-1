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91440" cy="2560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0120" y="2194560"/>
            <a:ext cx="54864" cy="2560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103120"/>
            <a:ext cx="9144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BLUESTOCK FINTECH</a:t>
            </a:r>
          </a:p>
          <a:p>
            <a:pPr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Mutual Fund Analytics</a:t>
            </a:r>
          </a:p>
          <a:p>
            <a:pPr>
              <a:spcAft>
                <a:spcPts val="1600"/>
              </a:spcAft>
            </a:pPr>
            <a:r>
              <a:rPr sz="4200" b="1">
                <a:solidFill>
                  <a:srgbClr val="3B82F6"/>
                </a:solidFill>
                <a:latin typeface="Calibri"/>
              </a:rPr>
              <a:t>Capstone Project</a:t>
            </a:r>
          </a:p>
          <a:p>
            <a:pPr>
              <a:spcAft>
                <a:spcPts val="20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Quantitative Performance  ·  Portfolio Concentration  ·  Risk Analytics</a:t>
            </a:r>
          </a:p>
          <a:p>
            <a:pPr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Vipin Nishad   |   Data Scientist &amp; Quantitative Analyst   |   August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486400"/>
            <a:ext cx="2011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0160" y="5486400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5623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alibri"/>
              </a:rPr>
              <a:t>40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Mutual Fund Schemes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5486400"/>
            <a:ext cx="2011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5486400"/>
            <a:ext cx="73152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5623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46,000+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Daily NAV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5486400"/>
            <a:ext cx="2011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52160" y="5486400"/>
            <a:ext cx="73152" cy="777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0" y="5623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14B8A6"/>
                </a:solidFill>
                <a:latin typeface="Calibri"/>
              </a:rPr>
              <a:t>32,778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Investor Transactions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5486400"/>
            <a:ext cx="2011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5486400"/>
            <a:ext cx="73152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5623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F59E0B"/>
                </a:solidFill>
                <a:latin typeface="Calibri"/>
              </a:rPr>
              <a:t>6-Step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Automated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Calibri"/>
              </a:rPr>
              <a:t>BLUESTOCK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Problem Statement &amp; Business Objective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Identifying key challenges in the Indian Mutual Fund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48840" y="1234440"/>
            <a:ext cx="5486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BLUESTOCK MUTUAL FUND ANALYTICS  |  Vipin Nishad  |  Capstone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Slide 2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▸  Rapid AUM Expansion:  </a:t>
            </a:r>
            <a:r>
              <a:rPr sz="1300">
                <a:solidFill>
                  <a:srgbClr val="1E293B"/>
                </a:solidFill>
                <a:latin typeface="Calibri"/>
              </a:rPr>
              <a:t>Indian MF AUM has grown exponentially via SIP inflows, but increased capital introduces operational and concentration vulnerabilities.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▸  Portfolio Concentration Risk:  </a:t>
            </a:r>
            <a:r>
              <a:rPr sz="1300">
                <a:solidFill>
                  <a:srgbClr val="1E293B"/>
                </a:solidFill>
                <a:latin typeface="Calibri"/>
              </a:rPr>
              <a:t>Flagship equity funds suffer from &gt;40% single-sector tilts (IT/Banking), exposing investors to sharp sector pullbacks.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463040"/>
            <a:ext cx="18288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▸  SIP Account Churn:  </a:t>
            </a:r>
            <a:r>
              <a:rPr sz="1300">
                <a:solidFill>
                  <a:srgbClr val="1E293B"/>
                </a:solidFill>
                <a:latin typeface="Calibri"/>
              </a:rPr>
              <a:t>Retail investors face high installment attrition and mandate friction, requiring predictive models to flag at-risk accounts.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▸  Quantitative Objective:  </a:t>
            </a:r>
            <a:r>
              <a:rPr sz="1300">
                <a:solidFill>
                  <a:srgbClr val="1E293B"/>
                </a:solidFill>
                <a:latin typeface="Calibri"/>
              </a:rPr>
              <a:t>Build an ETL pipeline, model rolling Sharpe ratios, compute 95% VaR, evaluate HHI concentration, and construct a 0-100 composite scorecard.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Calibri"/>
              </a:rPr>
              <a:t>BLUESTOCK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Data Sources &amp; ETL Architecture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End-to-end pipeline from raw CSVs to SQLite star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48840" y="1234440"/>
            <a:ext cx="5486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BLUESTOCK MUTUAL FUND ANALYTICS  |  Vipin Nishad  |  Capstone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Slide 3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2560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alibri"/>
              </a:rPr>
              <a:t>10 CSVs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Raw Data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463040"/>
            <a:ext cx="2560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83280" y="1463040"/>
            <a:ext cx="73152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Star Schema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SQLite Relational 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463040"/>
            <a:ext cx="2560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73152" cy="777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14B8A6"/>
                </a:solidFill>
                <a:latin typeface="Calibri"/>
              </a:rPr>
              <a:t>6 Steps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Automated Pipeline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463040"/>
            <a:ext cx="2560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69680" y="1463040"/>
            <a:ext cx="73152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F59E0B"/>
                </a:solidFill>
                <a:latin typeface="Calibri"/>
              </a:rPr>
              <a:t>run_pipeline.py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1-Command 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▸  Star Schema Design:  </a:t>
            </a:r>
            <a:r>
              <a:rPr sz="1400">
                <a:solidFill>
                  <a:srgbClr val="1E293B"/>
                </a:solidFill>
                <a:latin typeface="Calibri"/>
              </a:rPr>
              <a:t>Normalized SQLite (bluestock_mf.db) with dim_fund, dim_date dimensions and fact_nav, fact_performance, fact_transactions fact tables.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▸  Data Hygiene:  </a:t>
            </a:r>
            <a:r>
              <a:rPr sz="1400">
                <a:solidFill>
                  <a:srgbClr val="1E293B"/>
                </a:solidFill>
                <a:latin typeface="Calibri"/>
              </a:rPr>
              <a:t>Forward-fills NAV gaps, standardizes KYC/transaction types, filters invalid amounts, validates AMFI code integrity across all datasets.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▸  Pipeline Flow:  </a:t>
            </a:r>
            <a:r>
              <a:rPr sz="1400">
                <a:solidFill>
                  <a:srgbClr val="1E293B"/>
                </a:solidFill>
                <a:latin typeface="Calibri"/>
              </a:rPr>
              <a:t>data_ingestion.py → data_cleaning.py → validate_data.py → db_loader.py → calculate_rolling_sharpe.py → recommender.py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Calibri"/>
              </a:rPr>
              <a:t>BLUESTOCK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EDA Highlights: Industry AUM Dynamics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Asset Management Company dominance and SIP inflow trajectories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48840" y="1234440"/>
            <a:ext cx="5486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BLUESTOCK MUTUAL FUND ANALYTICS  |  Vipin Nishad  |  Capstone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Slide 4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2560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alibri"/>
              </a:rPr>
              <a:t>₹12.5L Cr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SBI MF — #1 AUM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463040"/>
            <a:ext cx="2560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83280" y="146304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10B981"/>
                </a:solidFill>
                <a:latin typeface="Calibri"/>
              </a:rPr>
              <a:t>₹23,332 Cr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Monthly SIP (2025)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463040"/>
            <a:ext cx="2560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73152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68.4%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Equity Inflow Share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463040"/>
            <a:ext cx="2560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69680" y="146304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F59E0B"/>
                </a:solidFill>
                <a:latin typeface="Calibri"/>
              </a:rPr>
              <a:t>+79%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SIP Growth 2022-25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65176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▸  AMC Concentration:  </a:t>
            </a:r>
            <a:r>
              <a:rPr sz="1400">
                <a:solidFill>
                  <a:srgbClr val="1E293B"/>
                </a:solidFill>
                <a:latin typeface="Calibri"/>
              </a:rPr>
              <a:t>Top 3 AMCs (SBI ₹12.5L Cr, ICICI Pru ₹9.8L Cr, HDFC ₹9.2L Cr) command over 45% of total industry AUM.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▸  SIP Inflow Surge:  </a:t>
            </a:r>
            <a:r>
              <a:rPr sz="1400">
                <a:solidFill>
                  <a:srgbClr val="1E293B"/>
                </a:solidFill>
                <a:latin typeface="Calibri"/>
              </a:rPr>
              <a:t>Monthly SIP collections grew from ₹13,041 Cr (early 2022) to ₹23,332 Cr (2025), a +79% increase demonstrating retail resilience.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▸  Category Split:  </a:t>
            </a:r>
            <a:r>
              <a:rPr sz="1400">
                <a:solidFill>
                  <a:srgbClr val="1E293B"/>
                </a:solidFill>
                <a:latin typeface="Calibri"/>
              </a:rPr>
              <a:t>Equity 68.4% of net inflows, Debt 19.2% (mostly liquid funds), Hybrid &amp; Index 12.4%.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Calibri"/>
              </a:rPr>
              <a:t>BLUESTOCK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EDA Highlights: Investor Demographics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Retail investor behavior, geography, and digital payment adoption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48840" y="1234440"/>
            <a:ext cx="5486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BLUESTOCK MUTUAL FUND ANALYTICS  |  Vipin Nishad  |  Capstone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Slide 5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▸  Age Demographics:  </a:t>
            </a:r>
            <a:r>
              <a:rPr sz="1300">
                <a:solidFill>
                  <a:srgbClr val="1E293B"/>
                </a:solidFill>
                <a:latin typeface="Calibri"/>
              </a:rPr>
              <a:t>25-40 age group leads with 58% of total folios, reflecting rising digital adoption and self-directed investing patterns.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▸  Geographic Distribution:  </a:t>
            </a:r>
            <a:r>
              <a:rPr sz="1300">
                <a:solidFill>
                  <a:srgbClr val="1E293B"/>
                </a:solidFill>
                <a:latin typeface="Calibri"/>
              </a:rPr>
              <a:t>Tier-1 metros contribute 62% of volume; Tier-2/3 cities show highest YoY growth at +34%.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463040"/>
            <a:ext cx="18288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▸  Digital Payments:  </a:t>
            </a:r>
            <a:r>
              <a:rPr sz="1300">
                <a:solidFill>
                  <a:srgbClr val="1E293B"/>
                </a:solidFill>
                <a:latin typeface="Calibri"/>
              </a:rPr>
              <a:t>UPI and Net Banking account for 78% of SIP mandates, reducing manual clearance friction significantly.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▸  KYC Compliance:  </a:t>
            </a:r>
            <a:r>
              <a:rPr sz="1300">
                <a:solidFill>
                  <a:srgbClr val="1E293B"/>
                </a:solidFill>
                <a:latin typeface="Calibri"/>
              </a:rPr>
              <a:t>84% Verified KYC status; 12% Pending represents an actionable compliance conversion opportunity.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Calibri"/>
              </a:rPr>
              <a:t>BLUESTOCK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Performance Metrics: CAGR &amp; Alpha Generation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Multi-horizon compounded returns and CAPM regression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48840" y="1234440"/>
            <a:ext cx="5486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BLUESTOCK MUTUAL FUND ANALYTICS  |  Vipin Nishad  |  Capstone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Slide 6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600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10B981"/>
                </a:solidFill>
                <a:latin typeface="Calibri"/>
              </a:rPr>
              <a:t>23.39%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SBI Small Cap 3Y CAGR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146304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51760" y="146304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40" y="1600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alibri"/>
              </a:rPr>
              <a:t>18.23%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Kotak Emerging 3Y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46304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63440" y="1463040"/>
            <a:ext cx="73152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1600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14.84%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HDFC Top 100 3Y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146304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75120" y="146304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1600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F59E0B"/>
                </a:solidFill>
                <a:latin typeface="Calibri"/>
              </a:rPr>
              <a:t>+5.42%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Best Alpha (SBI SC)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146304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0" y="1463040"/>
            <a:ext cx="73152" cy="914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0" y="1600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14B8A6"/>
                </a:solidFill>
                <a:latin typeface="Calibri"/>
              </a:rPr>
              <a:t>0.88 β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SBI SC Market Beta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65176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▸  Small-Cap Leadership:  </a:t>
            </a:r>
            <a:r>
              <a:rPr sz="1400">
                <a:solidFill>
                  <a:srgbClr val="1E293B"/>
                </a:solidFill>
                <a:latin typeface="Calibri"/>
              </a:rPr>
              <a:t>SBI Small Cap Fund leads with 3Y CAGR 23.39% (5Y: 21.80%), followed by Kotak Emerging Equity 18.23% and ICICI Pru Midcap 18.08%.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▸  Large-Cap Stability:  </a:t>
            </a:r>
            <a:r>
              <a:rPr sz="1400">
                <a:solidFill>
                  <a:srgbClr val="1E293B"/>
                </a:solidFill>
                <a:latin typeface="Calibri"/>
              </a:rPr>
              <a:t>HDFC Top 100 (14.84%) and Mirae Asset Large Cap (14.81%) deliver steady benchmark-beating returns with lower volatility.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▸  Alpha Generation:  </a:t>
            </a:r>
            <a:r>
              <a:rPr sz="1400">
                <a:solidFill>
                  <a:srgbClr val="1E293B"/>
                </a:solidFill>
                <a:latin typeface="Calibri"/>
              </a:rPr>
              <a:t>SBI Small Cap generated annualized Alpha +5.42% against Nifty 100 (β=0.88, R²=0.74), demonstrating superior stock selection.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▸  Market Sensitivity:  </a:t>
            </a:r>
            <a:r>
              <a:rPr sz="1400">
                <a:solidFill>
                  <a:srgbClr val="1E293B"/>
                </a:solidFill>
                <a:latin typeface="Calibri"/>
              </a:rPr>
              <a:t>Large-Cap Betas near 1.00 (0.96-1.02) with R² &gt; 0.94, confirming strong benchmark correlation.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Calibri"/>
              </a:rPr>
              <a:t>BLUESTOCK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Performance Metrics: Sharpe Ratio &amp; Volatility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Risk-adjusted return analysis using Rf = 6.5% annualized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48840" y="1234440"/>
            <a:ext cx="5486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BLUESTOCK MUTUAL FUND ANALYTICS  |  Vipin Nishad  |  Capstone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Slide 7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2286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600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10B981"/>
                </a:solidFill>
                <a:latin typeface="Calibri"/>
              </a:rPr>
              <a:t>7.68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ICICI Liquid Sharpe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1463040"/>
            <a:ext cx="2286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08960" y="146304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1600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alibri"/>
              </a:rPr>
              <a:t>1.06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Top Equity Sharpe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1463040"/>
            <a:ext cx="2286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577840" y="1463040"/>
            <a:ext cx="73152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0" y="1600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EF4444"/>
                </a:solidFill>
                <a:latin typeface="Calibri"/>
              </a:rPr>
              <a:t>-28.4%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Max Drawdown (SC)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463040"/>
            <a:ext cx="2286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1463040"/>
            <a:ext cx="73152" cy="914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1600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14B8A6"/>
                </a:solidFill>
                <a:latin typeface="Calibri"/>
              </a:rPr>
              <a:t>48 Days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LC Recovery Period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65176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▸  Liquid Debt Dominance:  </a:t>
            </a:r>
            <a:r>
              <a:rPr sz="1400">
                <a:solidFill>
                  <a:srgbClr val="1E293B"/>
                </a:solidFill>
                <a:latin typeface="Calibri"/>
              </a:rPr>
              <a:t>ICICI Pru Liquid: Sharpe 7.68, Sortino 11.45 — near-zero variance drives exceptional risk-adjusted yield.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▸  Top Equity Performers:  </a:t>
            </a:r>
            <a:r>
              <a:rPr sz="1400">
                <a:solidFill>
                  <a:srgbClr val="1E293B"/>
                </a:solidFill>
                <a:latin typeface="Calibri"/>
              </a:rPr>
              <a:t>HDFC Top 100 and Mirae Asset Large Cap: Sharpe 1.06 each, Sortino 1.58 and 1.55 respectively.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▸  Drawdown Analysis:  </a:t>
            </a:r>
            <a:r>
              <a:rPr sz="1400">
                <a:solidFill>
                  <a:srgbClr val="1E293B"/>
                </a:solidFill>
                <a:latin typeface="Calibri"/>
              </a:rPr>
              <a:t>Small-Caps suffered -28.4% max drawdown (142-day recovery) vs. Large-Caps at -12.1% (48-day recovery).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▸  90-Day Rolling Sharpe:  </a:t>
            </a:r>
            <a:r>
              <a:rPr sz="1400">
                <a:solidFill>
                  <a:srgbClr val="1E293B"/>
                </a:solidFill>
                <a:latin typeface="Calibri"/>
              </a:rPr>
              <a:t>Time-series analysis reveals Sharpe instability in small-caps during 2024 correction periods.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Calibri"/>
              </a:rPr>
              <a:t>BLUESTOCK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Advanced Risk Analytics: VaR &amp; Sector HHI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Tail risk modeling and portfolio concentration measurement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48840" y="1234440"/>
            <a:ext cx="5486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BLUESTOCK MUTUAL FUND ANALYTICS  |  Vipin Nishad  |  Capstone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Slide 8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2560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73152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EF4444"/>
                </a:solidFill>
                <a:latin typeface="Calibri"/>
              </a:rPr>
              <a:t>-2.41%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Worst 1D VaR (95%)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463040"/>
            <a:ext cx="2560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83280" y="146304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F59E0B"/>
                </a:solidFill>
                <a:latin typeface="Calibri"/>
              </a:rPr>
              <a:t>2,829.94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Highest HHI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463040"/>
            <a:ext cx="2560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73152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EF4444"/>
                </a:solidFill>
                <a:latin typeface="Calibri"/>
              </a:rPr>
              <a:t>45.77%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Max Sector Weight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463040"/>
            <a:ext cx="2560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69680" y="146304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10B981"/>
                </a:solidFill>
                <a:latin typeface="Calibri"/>
              </a:rPr>
              <a:t>1,209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Best Diversified HHI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651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▸  Small/Mid-Cap VaR:  </a:t>
            </a:r>
            <a:r>
              <a:rPr sz="1300">
                <a:solidFill>
                  <a:srgbClr val="1E293B"/>
                </a:solidFill>
                <a:latin typeface="Calibri"/>
              </a:rPr>
              <a:t>ABSL Small Cap: -2.41%, SBI Small Cap: -2.18%, HDFC Mid-Cap: -2.05% daily 95% VaR.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▸  Large-Cap VaR:  </a:t>
            </a:r>
            <a:r>
              <a:rPr sz="1300">
                <a:solidFill>
                  <a:srgbClr val="1E293B"/>
                </a:solidFill>
                <a:latin typeface="Calibri"/>
              </a:rPr>
              <a:t>UTI Nifty 50 Index: -1.32%, ICICI Bluechip: -1.28% — significantly lower tail risk.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2651760"/>
            <a:ext cx="18288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26517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▸  Highly Concentrated:  </a:t>
            </a:r>
            <a:r>
              <a:rPr sz="1300">
                <a:solidFill>
                  <a:srgbClr val="1E293B"/>
                </a:solidFill>
                <a:latin typeface="Calibri"/>
              </a:rPr>
              <a:t>HDFC Top 100 Direct (HHI 2,830, IT 45.77%), Axis Midcap (HHI 2,578, Banking 30.55%).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▸  Diversified Leaders:  </a:t>
            </a:r>
            <a:r>
              <a:rPr sz="1300">
                <a:solidFill>
                  <a:srgbClr val="1E293B"/>
                </a:solidFill>
                <a:latin typeface="Calibri"/>
              </a:rPr>
              <a:t>DSP Small Cap (HHI 1,327), Kotak Flexicap (HHI 1,210) — no sector exceeds 20%.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Calibri"/>
              </a:rPr>
              <a:t>BLUESTOCK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Dashboard: Composite Fund Scorecard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Multi-factor weighted ranking: CAGR 30% | Sharpe 25% | Sortino 20% | Alpha 15% | Expense 10%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48840" y="1234440"/>
            <a:ext cx="5486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BLUESTOCK MUTUAL FUND ANALYTICS  |  Vipin Nishad  |  Capstone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Slide 9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2286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600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10B981"/>
                </a:solidFill>
                <a:latin typeface="Calibri"/>
              </a:rPr>
              <a:t>94.8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#1 SBI Small Cap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1463040"/>
            <a:ext cx="2286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08960" y="1463040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1600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alibri"/>
              </a:rPr>
              <a:t>89.2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#2 HDFC Top 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1463040"/>
            <a:ext cx="2286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577840" y="1463040"/>
            <a:ext cx="73152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0" y="1600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88.5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#3 Mirae Large Cap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463040"/>
            <a:ext cx="2286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1463040"/>
            <a:ext cx="73152" cy="777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1600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14B8A6"/>
                </a:solidFill>
                <a:latin typeface="Calibri"/>
              </a:rPr>
              <a:t>87.1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#4 ICICI Bluechip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560320"/>
            <a:ext cx="10881360" cy="34747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64748B"/>
                </a:solidFill>
                <a:latin typeface="Calibri"/>
              </a:rPr>
              <a:t>
[ INSERT POWER BI DASHBOARD SCREENSHOT ]
Composite Fund Scorecard &amp; Rankings Visualization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EC4276F-214A-6D94-956C-D39CF0B49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292" y="2587934"/>
            <a:ext cx="6109096" cy="3456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Calibri"/>
              </a:rPr>
              <a:t>BLUESTOCK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Dashboard: SIP Trends &amp; Cohort Analysis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Investor acquisition cohorts and SIP continuity health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48840" y="1234440"/>
            <a:ext cx="5486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BLUESTOCK MUTUAL FUND ANALYTICS  |  Vipin Nishad  |  Capstone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Slide 10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2560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alibri"/>
              </a:rPr>
              <a:t>₹2,258 Cr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2024 Cohort Capital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463040"/>
            <a:ext cx="2560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83280" y="1463040"/>
            <a:ext cx="73152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EF4444"/>
                </a:solidFill>
                <a:latin typeface="Calibri"/>
              </a:rPr>
              <a:t>97.8%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At-Risk SIP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463040"/>
            <a:ext cx="2560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73152" cy="777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14B8A6"/>
                </a:solidFill>
                <a:latin typeface="Calibri"/>
              </a:rPr>
              <a:t>4,803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Active Investors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463040"/>
            <a:ext cx="2560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69680" y="146304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10B981"/>
                </a:solidFill>
                <a:latin typeface="Calibri"/>
              </a:rPr>
              <a:t>+22.8%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2025 Ticket Growth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560320"/>
            <a:ext cx="10881360" cy="34747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64748B"/>
                </a:solidFill>
                <a:latin typeface="Calibri"/>
              </a:rPr>
              <a:t>
[ INSERT POWER BI DASHBOARD SCREENSHOT ]
SIP Inflow Trends &amp; At-Risk Cohort Visualization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93E44D5-EF3A-6E60-97C7-86CF8363C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786" y="2560320"/>
            <a:ext cx="6167628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Calibri"/>
              </a:rPr>
              <a:t>BLUESTOCK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Summary of Key Analytical Findings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Critical insights across performance, risk, and investor behavior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48840" y="1234440"/>
            <a:ext cx="5486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BLUESTOCK MUTUAL FUND ANALYTICS  |  Vipin Nishad  |  Capstone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Slide 11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▸  Risk-Adjusted Leaders:  </a:t>
            </a:r>
            <a:r>
              <a:rPr sz="1300">
                <a:solidFill>
                  <a:srgbClr val="1E293B"/>
                </a:solidFill>
                <a:latin typeface="Calibri"/>
              </a:rPr>
              <a:t>Large-Cap funds (HDFC Top 100, ICICI Bluechip) deliver Sharpe ~1.06 with 50% lower drawdown risk vs. Small-Caps.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▸  Sector Overconcentration:  </a:t>
            </a:r>
            <a:r>
              <a:rPr sz="1300">
                <a:solidFill>
                  <a:srgbClr val="1E293B"/>
                </a:solidFill>
                <a:latin typeface="Calibri"/>
              </a:rPr>
              <a:t>Top funds show &gt;45% IT and &gt;41% Banking exposure, exceeding safe HHI thresholds (≥2,500).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463040"/>
            <a:ext cx="18288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▸  SIP Continuity Crisis:  </a:t>
            </a:r>
            <a:r>
              <a:rPr sz="1300">
                <a:solidFill>
                  <a:srgbClr val="1E293B"/>
                </a:solidFill>
                <a:latin typeface="Calibri"/>
              </a:rPr>
              <a:t>97.8% of recurring SIP investors flagged at-risk (avg gap &gt;35 days), signaling severe mandate friction.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▸  Cohort Evolution:  </a:t>
            </a:r>
            <a:r>
              <a:rPr sz="1300">
                <a:solidFill>
                  <a:srgbClr val="1E293B"/>
                </a:solidFill>
                <a:latin typeface="Calibri"/>
              </a:rPr>
              <a:t>2025 cohort shows +22.8% higher avg SIP (₹13,505 vs ₹10,997), indicating affluent investor acquisition.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Calibri"/>
              </a:rPr>
              <a:t>BLUESTOCK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Strategic Business Recommendations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Actionable interventions for risk, retention, and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48840" y="1234440"/>
            <a:ext cx="5486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BLUESTOCK MUTUAL FUND ANALYTICS  |  Vipin Nishad  |  Capstone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Slide 12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▸  Enforce Sector Ceilings:  </a:t>
            </a:r>
            <a:r>
              <a:rPr sz="1400">
                <a:solidFill>
                  <a:srgbClr val="1E293B"/>
                </a:solidFill>
                <a:latin typeface="Calibri"/>
              </a:rPr>
              <a:t>Mandate ≤30% single-sector portfolio cap for funds with HHI ≥ 2,500. HDFC Top 100 Direct (IT 45.77%) must trim overweights to reduce uncompensated risk.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▸  Automate SIP Retention:  </a:t>
            </a:r>
            <a:r>
              <a:rPr sz="1400">
                <a:solidFill>
                  <a:srgbClr val="1E293B"/>
                </a:solidFill>
                <a:latin typeface="Calibri"/>
              </a:rPr>
              <a:t>Deploy pre-debit WhatsApp/SMS alerts + 1-click pause feature (up to 90 days) targeting the 97.8% at-risk cohort — est. 15-20% churn reduction.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▸  Risk-Mapped Allocation:  </a:t>
            </a:r>
            <a:r>
              <a:rPr sz="1400">
                <a:solidFill>
                  <a:srgbClr val="1E293B"/>
                </a:solidFill>
                <a:latin typeface="Calibri"/>
              </a:rPr>
              <a:t>Use recommender.py engine: Low → ICICI Liquid (Sharpe 7.68), Moderate → HDFC Top 100 (CAGR 14.84%), High → SBI Small Cap (Alpha +5.42%).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▸  Real-Time Infrastructure:  </a:t>
            </a:r>
            <a:r>
              <a:rPr sz="1400">
                <a:solidFill>
                  <a:srgbClr val="1E293B"/>
                </a:solidFill>
                <a:latin typeface="Calibri"/>
              </a:rPr>
              <a:t>Transition from CSV batch loading to API-driven live NAV ingestion with automated Star Schema warehouse refresh cycles.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1528</Words>
  <Application>Microsoft Office PowerPoint</Application>
  <PresentationFormat>Widescreen</PresentationFormat>
  <Paragraphs>162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Vinod Kumar</cp:lastModifiedBy>
  <cp:revision>3</cp:revision>
  <dcterms:created xsi:type="dcterms:W3CDTF">2013-01-27T09:14:16Z</dcterms:created>
  <dcterms:modified xsi:type="dcterms:W3CDTF">2026-08-12T18:01:23Z</dcterms:modified>
  <cp:category/>
</cp:coreProperties>
</file>